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49640" y="822960"/>
            <a:ext cx="2423160" cy="5166360"/>
          </a:xfrm>
          <a:prstGeom prst="roundRect">
            <a:avLst>
              <a:gd name="adj" fmla="val 12000"/>
            </a:avLst>
          </a:prstGeom>
          <a:solidFill>
            <a:srgbClr val="0A1222"/>
          </a:solidFill>
          <a:ln w="1270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26880" y="987552"/>
            <a:ext cx="868680" cy="73152"/>
          </a:xfrm>
          <a:prstGeom prst="roundRect">
            <a:avLst>
              <a:gd name="adj" fmla="val 12000"/>
            </a:avLst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23960" y="1353312"/>
            <a:ext cx="1874519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A1B1C6"/>
                </a:solidFill>
                <a:latin typeface="Aptos"/>
              </a:defRPr>
            </a:pPr>
            <a:r>
              <a:t>MESSAGE INBOX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96528" y="18288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182A44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42832" y="193852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53BEFF"/>
                </a:solidFill>
                <a:latin typeface="Aptos"/>
              </a:defRPr>
            </a:pPr>
            <a:r>
              <a:t>Bank alert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2832" y="2212848"/>
            <a:ext cx="157276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0" i="0">
                <a:solidFill>
                  <a:srgbClr val="A1B1C6"/>
                </a:solidFill>
                <a:latin typeface="Aptos"/>
              </a:defRPr>
            </a:pPr>
            <a:r>
              <a:t>Your OTP is ready…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96528" y="28803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351D2E"/>
          </a:solidFill>
          <a:ln w="12700">
            <a:solidFill>
              <a:srgbClr val="80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42832" y="2999232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FF7070"/>
                </a:solidFill>
                <a:latin typeface="Aptos"/>
              </a:defRPr>
            </a:pPr>
            <a:r>
              <a:t>Prize claim!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3282696"/>
            <a:ext cx="157276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0" i="0">
                <a:solidFill>
                  <a:srgbClr val="F5F8FC"/>
                </a:solidFill>
                <a:latin typeface="Aptos"/>
              </a:defRPr>
            </a:pPr>
            <a:r>
              <a:t>Click now to win cash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2832" y="3749039"/>
            <a:ext cx="749808" cy="54864"/>
          </a:xfrm>
          <a:prstGeom prst="roundRect">
            <a:avLst>
              <a:gd name="adj" fmla="val 12000"/>
            </a:avLst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96528" y="4187952"/>
            <a:ext cx="877824" cy="365760"/>
          </a:xfrm>
          <a:prstGeom prst="roundRect">
            <a:avLst>
              <a:gd name="adj" fmla="val 12000"/>
            </a:avLst>
          </a:prstGeom>
          <a:solidFill>
            <a:srgbClr val="164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0536" y="4270248"/>
            <a:ext cx="7498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 i="0">
                <a:solidFill>
                  <a:srgbClr val="5EE2A0"/>
                </a:solidFill>
                <a:latin typeface="Aptos"/>
              </a:defRPr>
            </a:pPr>
            <a:r>
              <a:t>✓  HAM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11512" y="4187952"/>
            <a:ext cx="905256" cy="365760"/>
          </a:xfrm>
          <a:prstGeom prst="roundRect">
            <a:avLst>
              <a:gd name="adj" fmla="val 12000"/>
            </a:avLst>
          </a:prstGeom>
          <a:solidFill>
            <a:srgbClr val="4B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66376" y="4270248"/>
            <a:ext cx="786384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 i="0">
                <a:solidFill>
                  <a:srgbClr val="FF7070"/>
                </a:solidFill>
                <a:latin typeface="Aptos"/>
              </a:defRPr>
            </a:pPr>
            <a:r>
              <a:t>! SPAM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1508760"/>
            <a:ext cx="6629400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500" b="1" i="0">
                <a:solidFill>
                  <a:srgbClr val="F5F8FC"/>
                </a:solidFill>
                <a:latin typeface="Aptos"/>
              </a:defRPr>
            </a:pPr>
            <a:r>
              <a:t>SMS SPAM</a:t>
            </a:r>
            <a:br/>
            <a:r>
              <a:t>MESSAGE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401568"/>
            <a:ext cx="61722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 i="0">
                <a:solidFill>
                  <a:srgbClr val="A1B1C6"/>
                </a:solidFill>
                <a:latin typeface="Aptos"/>
              </a:defRPr>
            </a:pPr>
            <a:r>
              <a:t>A practical system for separating unwanted messages from legitimate SMS.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43400"/>
            <a:ext cx="914400" cy="54864"/>
          </a:xfrm>
          <a:prstGeom prst="roundRect">
            <a:avLst>
              <a:gd name="adj" fmla="val 12000"/>
            </a:avLst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6126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2ADCBE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64008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800" b="1" i="0">
                <a:solidFill>
                  <a:srgbClr val="F5F8FC"/>
                </a:solidFill>
                <a:latin typeface="Aptos"/>
              </a:defRPr>
            </a:pPr>
            <a:r>
              <a:t>Priya Vart Kumar Priyanshu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64008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 i="0">
                <a:solidFill>
                  <a:srgbClr val="A1B1C6"/>
                </a:solidFill>
                <a:latin typeface="Aptos"/>
              </a:defRPr>
            </a:pPr>
            <a:r>
              <a:rPr dirty="0" err="1"/>
              <a:t>B.Tech</a:t>
            </a:r>
            <a:r>
              <a:rPr dirty="0"/>
              <a:t> CSE  •  Rungta College of Engineering and Technology, </a:t>
            </a:r>
            <a:r>
              <a:rPr dirty="0" err="1"/>
              <a:t>Bhilai</a:t>
            </a:r>
            <a:br>
              <a:rPr dirty="0"/>
            </a:br>
            <a:r>
              <a:rPr lang="en-US" dirty="0"/>
              <a:t>ERP</a:t>
            </a:r>
            <a:r>
              <a:rPr dirty="0"/>
              <a:t>.: [</a:t>
            </a:r>
            <a:r>
              <a:rPr lang="en-US" dirty="0"/>
              <a:t>6606467</a:t>
            </a:r>
            <a:r>
              <a:rPr dirty="0"/>
              <a:t>]  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9107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AIML MINOR PROJECT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The problem is hiding in plain 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Spam messages imitate ordinary communication to earn clicks, money, or sensitive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520440" cy="333756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64008" cy="333756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13432"/>
            <a:ext cx="31272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FF7070"/>
                </a:solidFill>
                <a:latin typeface="Aptos"/>
              </a:defRPr>
            </a:pPr>
            <a:r>
              <a:t>01 /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24328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Unwanted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99816"/>
            <a:ext cx="3063240" cy="2295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Promotional noise, fake prizes, suspicious links, and social-engineering attempts.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148840"/>
            <a:ext cx="3520440" cy="333756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2148840"/>
            <a:ext cx="64008" cy="3337560"/>
          </a:xfrm>
          <a:prstGeom prst="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313432"/>
            <a:ext cx="31272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FFC75C"/>
                </a:solidFill>
                <a:latin typeface="Aptos"/>
              </a:defRPr>
            </a:pPr>
            <a:r>
              <a:t>02 /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24328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Text is messy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99816"/>
            <a:ext cx="3063240" cy="2295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Messages are short, informal, full of abbreviations, and constantly changing.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148840"/>
            <a:ext cx="3520440" cy="333756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01000" y="2148840"/>
            <a:ext cx="64008" cy="33375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313432"/>
            <a:ext cx="312724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03 /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24328"/>
            <a:ext cx="3017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Useful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99816"/>
            <a:ext cx="3063240" cy="2295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Classify SMS as spam or ham, while measuring both false alarms and missed spam.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 i="0">
                <a:solidFill>
                  <a:srgbClr val="53BEFF"/>
                </a:solidFill>
                <a:latin typeface="Aptos"/>
              </a:defRPr>
            </a:pPr>
            <a:r>
              <a:t>PROJECT QUESTION   Can a lightweight text classifier identify spam patterns accurately on labelled SMS data?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What this project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A complete workflow—not just a trained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64008" cy="141732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2ADC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13432"/>
            <a:ext cx="2578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WORKSTREAM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24328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99816"/>
            <a:ext cx="301752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Clean and inspect labelled SMS examples.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14884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148840"/>
            <a:ext cx="64008" cy="1417320"/>
          </a:xfrm>
          <a:prstGeom prst="rect">
            <a:avLst/>
          </a:prstGeom>
          <a:solidFill>
            <a:srgbClr val="53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81728" y="231343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53BE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313432"/>
            <a:ext cx="2578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53BEFF"/>
                </a:solidFill>
                <a:latin typeface="Aptos"/>
              </a:defRPr>
            </a:pPr>
            <a:r>
              <a:t>WORKSTREAM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24328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099816"/>
            <a:ext cx="301752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Represent text using TF-IDF.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2148840"/>
            <a:ext cx="64008" cy="1417320"/>
          </a:xfrm>
          <a:prstGeom prst="rect">
            <a:avLst/>
          </a:prstGeom>
          <a:solidFill>
            <a:srgbClr val="5E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231343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5EE2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313432"/>
            <a:ext cx="2578607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5EE2A0"/>
                </a:solidFill>
                <a:latin typeface="Aptos"/>
              </a:defRPr>
            </a:pPr>
            <a:r>
              <a:t>WORKSTREAM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624328"/>
            <a:ext cx="2468879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099816"/>
            <a:ext cx="301752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Compare candidate classifiers and select by spam F1-score.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84048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3840480"/>
            <a:ext cx="64008" cy="1417320"/>
          </a:xfrm>
          <a:prstGeom prst="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400507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FFC7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005072"/>
            <a:ext cx="2578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FFC75C"/>
                </a:solidFill>
                <a:latin typeface="Aptos"/>
              </a:defRPr>
            </a:pPr>
            <a:r>
              <a:t>WORKSTREAM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315968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91456"/>
            <a:ext cx="301752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Measure precision, recall, F1, accuracy, ROC-AUC, and errors.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84048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80560" y="3840480"/>
            <a:ext cx="64008" cy="141732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81728" y="400507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FF707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005072"/>
            <a:ext cx="25786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FF7070"/>
                </a:solidFill>
                <a:latin typeface="Aptos"/>
              </a:defRPr>
            </a:pPr>
            <a:r>
              <a:t>WORKSTREAM 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315968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4791456"/>
            <a:ext cx="301752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Provide single-message and CSV batch predictions.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384048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75320" y="3840480"/>
            <a:ext cx="64008" cy="141732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76488" y="400507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2ADC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005072"/>
            <a:ext cx="2578607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WORKSTREAM 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315968"/>
            <a:ext cx="2468879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791456"/>
            <a:ext cx="301752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Show evaluation results and document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UCI SMS Spam Collection  |  figures from the reported project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27889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3000" b="1" i="0">
                <a:solidFill>
                  <a:srgbClr val="2ADCBE"/>
                </a:solidFill>
                <a:latin typeface="Aptos"/>
              </a:defRPr>
            </a:pPr>
            <a:r>
              <a:t>5,160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2788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UNIQUE 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2788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0" i="0">
                <a:solidFill>
                  <a:srgbClr val="A1B1C6"/>
                </a:solidFill>
                <a:latin typeface="Aptos"/>
              </a:defRPr>
            </a:pPr>
            <a:r>
              <a:t>After duplicate removal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24028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423160"/>
            <a:ext cx="27889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3000" b="1" i="0">
                <a:solidFill>
                  <a:srgbClr val="53BEFF"/>
                </a:solidFill>
                <a:latin typeface="Aptos"/>
              </a:defRPr>
            </a:pPr>
            <a:r>
              <a:t>1,032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999232"/>
            <a:ext cx="2788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TEST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91840"/>
            <a:ext cx="2788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0" i="0">
                <a:solidFill>
                  <a:srgbClr val="A1B1C6"/>
                </a:solidFill>
                <a:latin typeface="Aptos"/>
              </a:defRPr>
            </a:pPr>
            <a:r>
              <a:t>Held-out evaluation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24028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19" y="2423160"/>
            <a:ext cx="27889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3000" b="1" i="0">
                <a:solidFill>
                  <a:srgbClr val="5EE2A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999232"/>
            <a:ext cx="2788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291840"/>
            <a:ext cx="2788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0" i="0">
                <a:solidFill>
                  <a:srgbClr val="A1B1C6"/>
                </a:solidFill>
                <a:latin typeface="Aptos"/>
              </a:defRPr>
            </a:pPr>
            <a:r>
              <a:t>Spam  /  Ham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PREPARATION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72000"/>
            <a:ext cx="2331720" cy="777240"/>
          </a:xfrm>
          <a:prstGeom prst="roundRect">
            <a:avLst>
              <a:gd name="adj" fmla="val 12000"/>
            </a:avLst>
          </a:prstGeom>
          <a:solidFill>
            <a:srgbClr val="182A44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4709160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7091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Validate columns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79" y="4572000"/>
            <a:ext cx="2331720" cy="777240"/>
          </a:xfrm>
          <a:prstGeom prst="roundRect">
            <a:avLst>
              <a:gd name="adj" fmla="val 12000"/>
            </a:avLst>
          </a:prstGeom>
          <a:solidFill>
            <a:srgbClr val="182A44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30752" y="4709160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7" y="47091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Normalize labels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572000"/>
            <a:ext cx="2331720" cy="777240"/>
          </a:xfrm>
          <a:prstGeom prst="roundRect">
            <a:avLst>
              <a:gd name="adj" fmla="val 12000"/>
            </a:avLst>
          </a:prstGeom>
          <a:solidFill>
            <a:srgbClr val="182A44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9672" y="4709160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7091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Remove duplicates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19" y="4572000"/>
            <a:ext cx="2331720" cy="777240"/>
          </a:xfrm>
          <a:prstGeom prst="roundRect">
            <a:avLst>
              <a:gd name="adj" fmla="val 12000"/>
            </a:avLst>
          </a:prstGeom>
          <a:solidFill>
            <a:srgbClr val="182A44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08592" y="4709160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7" y="47091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Stratified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715000"/>
            <a:ext cx="10515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1">
                <a:solidFill>
                  <a:srgbClr val="A1B1C6"/>
                </a:solidFill>
                <a:latin typeface="Aptos"/>
              </a:defRPr>
            </a:pPr>
            <a:r>
              <a:t>Counts are dataset/split-specific; reconfirm if the data or preprocessing configuration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From message to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The inference path keeps text processing and classification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1938528" cy="155448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938528" cy="82296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16642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2ADCBE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1664208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SMS text</a:t>
            </a:r>
            <a:br/>
            <a:r>
              <a:t>or CSV</a:t>
            </a:r>
          </a:p>
        </p:txBody>
      </p:sp>
      <p:sp>
        <p:nvSpPr>
          <p:cNvPr id="14" name="Chevron 13"/>
          <p:cNvSpPr/>
          <p:nvPr/>
        </p:nvSpPr>
        <p:spPr>
          <a:xfrm>
            <a:off x="2505456" y="3127248"/>
            <a:ext cx="274320" cy="411480"/>
          </a:xfrm>
          <a:prstGeom prst="chevron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62072" y="2560320"/>
            <a:ext cx="1938528" cy="155448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62072" y="2560320"/>
            <a:ext cx="1938528" cy="82296"/>
          </a:xfrm>
          <a:prstGeom prst="rect">
            <a:avLst/>
          </a:prstGeom>
          <a:solidFill>
            <a:srgbClr val="53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9232" y="2816352"/>
            <a:ext cx="16642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53BEF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246120"/>
            <a:ext cx="1664208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Validate</a:t>
            </a:r>
            <a:br/>
            <a:r>
              <a:t>and normalize</a:t>
            </a:r>
          </a:p>
        </p:txBody>
      </p:sp>
      <p:sp>
        <p:nvSpPr>
          <p:cNvPr id="19" name="Chevron 18"/>
          <p:cNvSpPr/>
          <p:nvPr/>
        </p:nvSpPr>
        <p:spPr>
          <a:xfrm>
            <a:off x="4864608" y="3127248"/>
            <a:ext cx="274320" cy="411480"/>
          </a:xfrm>
          <a:prstGeom prst="chevron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21224" y="2560320"/>
            <a:ext cx="1938528" cy="155448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21224" y="2560320"/>
            <a:ext cx="1938528" cy="82296"/>
          </a:xfrm>
          <a:prstGeom prst="rect">
            <a:avLst/>
          </a:prstGeom>
          <a:solidFill>
            <a:srgbClr val="5EE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58384" y="2816352"/>
            <a:ext cx="16642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5EE2A0"/>
                </a:solidFill>
                <a:latin typeface="Aptos"/>
              </a:defRPr>
            </a:pPr>
            <a:r>
              <a:t>VECTORIZER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246120"/>
            <a:ext cx="1664208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TF-IDF</a:t>
            </a:r>
            <a:br/>
            <a:r>
              <a:t>features</a:t>
            </a:r>
          </a:p>
        </p:txBody>
      </p:sp>
      <p:sp>
        <p:nvSpPr>
          <p:cNvPr id="24" name="Chevron 23"/>
          <p:cNvSpPr/>
          <p:nvPr/>
        </p:nvSpPr>
        <p:spPr>
          <a:xfrm>
            <a:off x="7223760" y="3127248"/>
            <a:ext cx="274320" cy="411480"/>
          </a:xfrm>
          <a:prstGeom prst="chevron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80376" y="2560320"/>
            <a:ext cx="1938528" cy="155448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0376" y="2560320"/>
            <a:ext cx="1938528" cy="82296"/>
          </a:xfrm>
          <a:prstGeom prst="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17536" y="2816352"/>
            <a:ext cx="16642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FFC75C"/>
                </a:solidFill>
                <a:latin typeface="Aptos"/>
              </a:defRPr>
            </a:pPr>
            <a:r>
              <a:t>CLASSIFIER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3246120"/>
            <a:ext cx="1664208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29" name="Chevron 28"/>
          <p:cNvSpPr/>
          <p:nvPr/>
        </p:nvSpPr>
        <p:spPr>
          <a:xfrm>
            <a:off x="9582912" y="3127248"/>
            <a:ext cx="274320" cy="411480"/>
          </a:xfrm>
          <a:prstGeom prst="chevron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39528" y="2560320"/>
            <a:ext cx="1938528" cy="155448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39528" y="2560320"/>
            <a:ext cx="1938528" cy="82296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76688" y="2816352"/>
            <a:ext cx="16642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FF707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3246120"/>
            <a:ext cx="1664208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Spam / ham</a:t>
            </a:r>
            <a:br/>
            <a:r>
              <a:t>+ score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709160"/>
            <a:ext cx="10332720" cy="777240"/>
          </a:xfrm>
          <a:prstGeom prst="roundRect">
            <a:avLst>
              <a:gd name="adj" fmla="val 12000"/>
            </a:avLst>
          </a:prstGeom>
          <a:solidFill>
            <a:srgbClr val="182A44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43000" y="4919472"/>
            <a:ext cx="9875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Model selection prioritizes spam-class F1-score. Reported decision threshold: 0.479.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Why TF-IDF + Logistic Regression?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A transparent baseline that works well with sparse text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3429000" cy="288036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240280"/>
            <a:ext cx="64008" cy="2880360"/>
          </a:xfrm>
          <a:prstGeom prst="rect">
            <a:avLst/>
          </a:prstGeom>
          <a:solidFill>
            <a:srgbClr val="53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30358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53BEFF"/>
                </a:solidFill>
                <a:latin typeface="Aptos"/>
              </a:defRPr>
            </a:pPr>
            <a:r>
              <a:t>01 / REPRESENT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15768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91256"/>
            <a:ext cx="2971800" cy="18379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Weights terms by their usefulness in a message relative to the corpus.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240280"/>
            <a:ext cx="3429000" cy="288036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2240280"/>
            <a:ext cx="64008" cy="28803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2404872"/>
            <a:ext cx="30358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02 / 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715768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91256"/>
            <a:ext cx="2971800" cy="18379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Learns a linear decision boundary and supports probability-style scores.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240280"/>
            <a:ext cx="3429000" cy="288036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01000" y="2240280"/>
            <a:ext cx="64008" cy="2880360"/>
          </a:xfrm>
          <a:prstGeom prst="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404872"/>
            <a:ext cx="30358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FFC75C"/>
                </a:solidFill>
                <a:latin typeface="Aptos"/>
              </a:defRPr>
            </a:pPr>
            <a:r>
              <a:t>03 / 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15768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Spam 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91256"/>
            <a:ext cx="2971800" cy="18379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Balances precision and recall for the spam class during model comparison.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10332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 i="1">
                <a:solidFill>
                  <a:srgbClr val="A1B1C6"/>
                </a:solidFill>
                <a:latin typeface="Aptos"/>
              </a:defRPr>
            </a:pPr>
            <a:r>
              <a:t>Reported run selected Logistic Regression; validate the selected model and threshold against the latest saved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Performance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Reported held-out test run  |  not a guarantee of future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2560320" cy="160020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496312"/>
            <a:ext cx="2340864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700" b="1" i="0">
                <a:solidFill>
                  <a:srgbClr val="2ADCBE"/>
                </a:solidFill>
                <a:latin typeface="Aptos"/>
              </a:defRPr>
            </a:pPr>
            <a:r>
              <a:t>99.42%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82112"/>
            <a:ext cx="234086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240280"/>
            <a:ext cx="2560320" cy="160020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2496312"/>
            <a:ext cx="2340864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700" b="1" i="0">
                <a:solidFill>
                  <a:srgbClr val="53BEFF"/>
                </a:solidFill>
                <a:latin typeface="Aptos"/>
              </a:defRPr>
            </a:pPr>
            <a:r>
              <a:t>99.19%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3182112"/>
            <a:ext cx="234086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240280"/>
            <a:ext cx="2560320" cy="160020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2496312"/>
            <a:ext cx="2340864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700" b="1" i="0">
                <a:solidFill>
                  <a:srgbClr val="FFC75C"/>
                </a:solidFill>
                <a:latin typeface="Aptos"/>
              </a:defRPr>
            </a:pPr>
            <a:r>
              <a:t>96.09%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182112"/>
            <a:ext cx="234086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240280"/>
            <a:ext cx="2560320" cy="160020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82328" y="2496312"/>
            <a:ext cx="2340864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700" b="1" i="0">
                <a:solidFill>
                  <a:srgbClr val="5EE2A0"/>
                </a:solidFill>
                <a:latin typeface="Aptos"/>
              </a:defRPr>
            </a:pPr>
            <a:r>
              <a:t>97.62%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3182112"/>
            <a:ext cx="2340864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4340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182A44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526280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A1B1C6"/>
                </a:solidFill>
                <a:latin typeface="Aptos"/>
              </a:defRPr>
            </a:pPr>
            <a:r>
              <a:t>ROC–AUC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28032"/>
            <a:ext cx="20116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100" b="1" i="0">
                <a:solidFill>
                  <a:srgbClr val="53BEFF"/>
                </a:solidFill>
                <a:latin typeface="Aptos"/>
              </a:defRPr>
            </a:pPr>
            <a:r>
              <a:t>0.999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4340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182A44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526280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A1B1C6"/>
                </a:solidFill>
                <a:latin typeface="Aptos"/>
              </a:defRPr>
            </a:pPr>
            <a:r>
              <a:t>DECISION THRESHOLD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828032"/>
            <a:ext cx="25603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100" b="1" i="0">
                <a:solidFill>
                  <a:srgbClr val="2ADCBE"/>
                </a:solidFill>
                <a:latin typeface="Aptos"/>
              </a:defRPr>
            </a:pPr>
            <a:r>
              <a:t>0.479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Errors matter more than a single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The cost of a false alarm is different from the cost of missed spam.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5166360" cy="196596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240280"/>
            <a:ext cx="82296" cy="196596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FF7070"/>
                </a:solidFill>
                <a:latin typeface="Aptos"/>
              </a:defRPr>
            </a:pPr>
            <a:r>
              <a:t>FALSE POSITIVES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1005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000" b="1" i="0">
                <a:solidFill>
                  <a:srgbClr val="F5F8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07792"/>
            <a:ext cx="33832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A1B1C6"/>
                </a:solidFill>
                <a:latin typeface="Aptos"/>
              </a:defRPr>
            </a:pPr>
            <a:r>
              <a:t>Legitimate message incorrectly flagged as spam.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40280"/>
            <a:ext cx="5166360" cy="196596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240280"/>
            <a:ext cx="82296" cy="1965960"/>
          </a:xfrm>
          <a:prstGeom prst="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514600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FFC75C"/>
                </a:solidFill>
                <a:latin typeface="Aptos"/>
              </a:defRPr>
            </a:pPr>
            <a:r>
              <a:t>MISSED SPAM / FALSE NEGATIVES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80360"/>
            <a:ext cx="1005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000" b="1" i="0">
                <a:solidFill>
                  <a:srgbClr val="F5F8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907792"/>
            <a:ext cx="3474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A1B1C6"/>
                </a:solidFill>
                <a:latin typeface="Aptos"/>
              </a:defRPr>
            </a:pPr>
            <a:r>
              <a:t>Spam message classified as legitimate.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 i="0">
                <a:solidFill>
                  <a:srgbClr val="53BEFF"/>
                </a:solidFill>
                <a:latin typeface="Aptos"/>
              </a:defRPr>
            </a:pPr>
            <a:r>
              <a:t>Interpretation: precision was very high, but recall below 100% means some spam still passed through.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Application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Four views support demonstration, batch use, and evaluation.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1343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2ADC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95144"/>
            <a:ext cx="40233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51760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Type a message and inspect the predicted label and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4884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31343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53BE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295144"/>
            <a:ext cx="40233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BATCH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651760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Upload multiple messages and export a prediction 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1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FFC75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95344"/>
            <a:ext cx="40233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51959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Review model metrics and error summaries.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49039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913631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 i="0">
                <a:solidFill>
                  <a:srgbClr val="5EE2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895344"/>
            <a:ext cx="40233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251959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Inspect dataset details and class distribution.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332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0" i="1">
                <a:solidFill>
                  <a:srgbClr val="A1B1C6"/>
                </a:solidFill>
                <a:latin typeface="Aptos"/>
              </a:defRPr>
            </a:pPr>
            <a:r>
              <a:t>Insert screenshots from the actual running app if visual evidence is required by the assessment.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Testing &amp; quality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Test the expected path and the edge cases.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03120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135124"/>
            <a:ext cx="1645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0A12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93976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84831"/>
            <a:ext cx="7589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F5F8FC"/>
                </a:solidFill>
                <a:latin typeface="Aptos"/>
              </a:defRPr>
            </a:pPr>
            <a:r>
              <a:t>Empty text and malformed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816352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848356"/>
            <a:ext cx="1645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0A12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07208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798064"/>
            <a:ext cx="7589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F5F8FC"/>
                </a:solidFill>
                <a:latin typeface="Aptos"/>
              </a:defRPr>
            </a:pPr>
            <a:r>
              <a:t>Single message returns label and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529584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561588"/>
            <a:ext cx="1645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0A12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2044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11296"/>
            <a:ext cx="7589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F5F8FC"/>
                </a:solidFill>
                <a:latin typeface="Aptos"/>
              </a:defRPr>
            </a:pPr>
            <a:r>
              <a:t>Output rows correspond to input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24281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274820"/>
            <a:ext cx="1645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0A12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33672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224528"/>
            <a:ext cx="7589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F5F8FC"/>
                </a:solidFill>
                <a:latin typeface="Aptos"/>
              </a:defRPr>
            </a:pPr>
            <a:r>
              <a:t>Evaluation view loads expected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956048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988052"/>
            <a:ext cx="1645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0A12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946904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EDGE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937760"/>
            <a:ext cx="7589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 i="0">
                <a:solidFill>
                  <a:srgbClr val="F5F8FC"/>
                </a:solidFill>
                <a:latin typeface="Aptos"/>
              </a:defRPr>
            </a:pPr>
            <a:r>
              <a:t>Punctuation, capitalization, promotional ham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Responsible interpretation is part of a strong ML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74920" cy="306324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148840"/>
            <a:ext cx="64008" cy="306324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313432"/>
            <a:ext cx="46817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FF7070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24328"/>
            <a:ext cx="45720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Where it may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9816"/>
            <a:ext cx="4617720" cy="20208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New spam patterns • other languages • code-mixed text • obfuscated words • no sender or URL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48840"/>
            <a:ext cx="5074920" cy="306324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148840"/>
            <a:ext cx="64008" cy="306324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313432"/>
            <a:ext cx="468172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24328"/>
            <a:ext cx="45720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 i="0">
                <a:solidFill>
                  <a:srgbClr val="F5F8FC"/>
                </a:solidFill>
                <a:latin typeface="Aptos"/>
              </a:defRPr>
            </a:pPr>
            <a:r>
              <a:t>How to 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99816"/>
            <a:ext cx="4617720" cy="20208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New independent data • multilingual support • threshold tuning • model explanations • robustness testing.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FFC75C"/>
                </a:solidFill>
                <a:latin typeface="Aptos"/>
              </a:defRPr>
            </a:pPr>
            <a:r>
              <a:t>Do not automatically delete or block messages solely because this prototype predicts spam.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109728" cy="29260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900" b="1" i="0">
                <a:solidFill>
                  <a:srgbClr val="A1B1C6"/>
                </a:solidFill>
                <a:latin typeface="Aptos"/>
              </a:defRPr>
            </a:pPr>
            <a:r>
              <a:t>AIML MINOR PROJECT  /  SMS SPAM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 i="0">
                <a:solidFill>
                  <a:srgbClr val="F5F8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 i="0">
                <a:solidFill>
                  <a:srgbClr val="A1B1C6"/>
                </a:solidFill>
                <a:latin typeface="Aptos"/>
              </a:defRPr>
            </a:pPr>
            <a:r>
              <a:t>An end-to-end prototype for SMS text classification.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47088"/>
            <a:ext cx="685800" cy="41148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6473952"/>
            <a:ext cx="11018520" cy="10972"/>
          </a:xfrm>
          <a:prstGeom prst="rect">
            <a:avLst/>
          </a:prstGeom>
          <a:solidFill>
            <a:srgbClr val="2F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7132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800" b="1" i="0">
                <a:solidFill>
                  <a:srgbClr val="A1B1C6"/>
                </a:solidFill>
                <a:latin typeface="Aptos"/>
              </a:defRPr>
            </a:pPr>
            <a:r>
              <a:t>SMS SPAM MESSAGE DETECTOR  •  B.TECH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800" b="1" i="0">
                <a:solidFill>
                  <a:srgbClr val="2ADC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108960"/>
          </a:xfrm>
          <a:prstGeom prst="roundRect">
            <a:avLst>
              <a:gd name="adj" fmla="val 12000"/>
            </a:avLst>
          </a:prstGeom>
          <a:solidFill>
            <a:srgbClr val="131F35"/>
          </a:solidFill>
          <a:ln w="12700">
            <a:solidFill>
              <a:srgbClr val="2F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58521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 i="0">
                <a:solidFill>
                  <a:srgbClr val="2ADCBE"/>
                </a:solidFill>
                <a:latin typeface="Aptos"/>
              </a:defRPr>
            </a:pPr>
            <a:r>
              <a:t>WHAT WAS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5852160" cy="18288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53BEFF"/>
                </a:solidFill>
                <a:latin typeface="Aptos"/>
              </a:rPr>
              <a:t>01  </a:t>
            </a:r>
            <a:r>
              <a:rPr sz="1400">
                <a:solidFill>
                  <a:srgbClr val="F5F8FC"/>
                </a:solidFill>
                <a:latin typeface="Aptos"/>
              </a:rPr>
              <a:t>Text preprocessing + TF-IDF features
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5EE2A0"/>
                </a:solidFill>
                <a:latin typeface="Aptos"/>
              </a:rPr>
              <a:t>02  </a:t>
            </a:r>
            <a:r>
              <a:rPr sz="1400">
                <a:solidFill>
                  <a:srgbClr val="F5F8FC"/>
                </a:solidFill>
                <a:latin typeface="Aptos"/>
              </a:rPr>
              <a:t>Model comparison and Logistic Regression
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FC75C"/>
                </a:solidFill>
                <a:latin typeface="Aptos"/>
              </a:rPr>
              <a:t>03  </a:t>
            </a:r>
            <a:r>
              <a:rPr sz="1400">
                <a:solidFill>
                  <a:srgbClr val="F5F8FC"/>
                </a:solidFill>
                <a:latin typeface="Aptos"/>
              </a:rPr>
              <a:t>Streamlit UI for single and batch prediction
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2ADCBE"/>
                </a:solidFill>
                <a:latin typeface="Aptos"/>
              </a:rPr>
              <a:t>04  </a:t>
            </a:r>
            <a:r>
              <a:rPr sz="1400">
                <a:solidFill>
                  <a:srgbClr val="F5F8FC"/>
                </a:solidFill>
                <a:latin typeface="Aptos"/>
              </a:rPr>
              <a:t>Evaluation metrics and error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148840"/>
            <a:ext cx="3520440" cy="3108960"/>
          </a:xfrm>
          <a:prstGeom prst="roundRect">
            <a:avLst>
              <a:gd name="adj" fmla="val 12000"/>
            </a:avLst>
          </a:prstGeom>
          <a:solidFill>
            <a:srgbClr val="182A44"/>
          </a:solidFill>
          <a:ln w="1270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60604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2ADCBE"/>
                </a:solidFill>
                <a:latin typeface="Aptos"/>
              </a:defRPr>
            </a:pPr>
            <a:r>
              <a:t>REPORTED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154680"/>
            <a:ext cx="29260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900" b="1" i="0">
                <a:solidFill>
                  <a:srgbClr val="F5F8FC"/>
                </a:solidFill>
                <a:latin typeface="Aptos"/>
              </a:defRPr>
            </a:pPr>
            <a:r>
              <a:t>97.62%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79476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A1B1C6"/>
                </a:solidFill>
                <a:latin typeface="Aptos"/>
              </a:defRPr>
            </a:pPr>
            <a:r>
              <a:t>SPAM 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343400"/>
            <a:ext cx="29260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 i="0">
                <a:solidFill>
                  <a:srgbClr val="F5F8FC"/>
                </a:solidFill>
                <a:latin typeface="Aptos"/>
              </a:defRPr>
            </a:pPr>
            <a:r>
              <a:t>Promising test result;</a:t>
            </a:r>
            <a:br/>
            <a:r>
              <a:t>needs broader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984</Words>
  <Application>Microsoft Office PowerPoint</Application>
  <PresentationFormat>Widescreen</PresentationFormat>
  <Paragraphs>205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Nikhil_2405@outlook.com</cp:lastModifiedBy>
  <cp:revision>2</cp:revision>
  <dcterms:created xsi:type="dcterms:W3CDTF">2013-01-27T09:14:16Z</dcterms:created>
  <dcterms:modified xsi:type="dcterms:W3CDTF">2026-10-10T13:24:40Z</dcterms:modified>
  <cp:category/>
</cp:coreProperties>
</file>